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64592" cy="128016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63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spc="200">
                <a:solidFill>
                  <a:srgbClr val="8A94A6"/>
                </a:solidFill>
                <a:latin typeface="맑은 고딕"/>
                <a:ea typeface="맑은 고딕"/>
              </a:rPr>
              <a:t>EQUITY RESEARCH  ·  가치투자 관점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6372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F2A44"/>
                </a:solidFill>
                <a:latin typeface="맑은 고딕"/>
                <a:ea typeface="맑은 고딕"/>
              </a:rPr>
              <a:t>삼성전자</a:t>
            </a:r>
          </a:p>
          <a:p>
            <a:r>
              <a:rPr sz="2200" b="0">
                <a:solidFill>
                  <a:srgbClr val="3C4048"/>
                </a:solidFill>
                <a:latin typeface="맑은 고딕"/>
                <a:ea typeface="맑은 고딕"/>
              </a:rPr>
              <a:t>기업 분석 리포트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892040"/>
            <a:ext cx="10362895" cy="9525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3C4048"/>
                </a:solidFill>
                <a:latin typeface="맑은 고딕"/>
                <a:ea typeface="맑은 고딕"/>
              </a:rPr>
              <a:t>분석 기준일  2026-06-16      |      작성  리서치센터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722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94A6"/>
                </a:solidFill>
                <a:latin typeface="맑은 고딕"/>
                <a:ea typeface="맑은 고딕"/>
              </a:rPr>
              <a:t>※ 본 자료는 학습용이며 투자 권유가 아닙니다. 매수·매도 의견을 담지 않으며, 최종 판단은 투자자 본인에게 있습니다.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spc="220">
                <a:solidFill>
                  <a:srgbClr val="F37321"/>
                </a:solidFill>
                <a:latin typeface="맑은 고딕"/>
                <a:ea typeface="맑은 고딕"/>
              </a:rPr>
              <a:t>COMPANY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A44"/>
                </a:solidFill>
                <a:latin typeface="맑은 고딕"/>
                <a:ea typeface="맑은 고딕"/>
              </a:rPr>
              <a:t>종목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820095" cy="9525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82268"/>
            <a:ext cx="1005840" cy="304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20095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  <a:ea typeface="맑은 고딕"/>
              </a:rPr>
              <a:t>▪  </a:t>
            </a:r>
            <a:r>
              <a:rPr sz="1400" b="0">
                <a:solidFill>
                  <a:srgbClr val="3C4048"/>
                </a:solidFill>
                <a:latin typeface="맑은 고딕"/>
                <a:ea typeface="맑은 고딕"/>
              </a:rPr>
              <a:t>종목명: 삼성전자 (코드 005930, KOSPI)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  <a:ea typeface="맑은 고딕"/>
              </a:rPr>
              <a:t>▪  </a:t>
            </a:r>
            <a:r>
              <a:rPr sz="1400" b="0">
                <a:solidFill>
                  <a:srgbClr val="3C4048"/>
                </a:solidFill>
                <a:latin typeface="맑은 고딕"/>
                <a:ea typeface="맑은 고딕"/>
              </a:rPr>
              <a:t>업종: 반도체·전자 (DS·DX·SDC·Harman 부문) (출처: DART, 2025 사업보고서)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  <a:ea typeface="맑은 고딕"/>
              </a:rPr>
              <a:t>▪  </a:t>
            </a:r>
            <a:r>
              <a:rPr sz="1400" b="0">
                <a:solidFill>
                  <a:srgbClr val="3C4048"/>
                </a:solidFill>
                <a:latin typeface="맑은 고딕"/>
                <a:ea typeface="맑은 고딕"/>
              </a:rPr>
              <a:t>분석 관점: 가치투자 — 내재가치·펀더멘털 중심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  <a:ea typeface="맑은 고딕"/>
              </a:rPr>
              <a:t>▪  </a:t>
            </a:r>
            <a:r>
              <a:rPr sz="1400" b="0">
                <a:solidFill>
                  <a:srgbClr val="3C4048"/>
                </a:solidFill>
                <a:latin typeface="맑은 고딕"/>
                <a:ea typeface="맑은 고딕"/>
              </a:rPr>
              <a:t>분석 기준일: 2026-06-16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820095" cy="6350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8251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8A94A6"/>
                </a:solidFill>
                <a:latin typeface="맑은 고딕"/>
                <a:ea typeface="맑은 고딕"/>
              </a:rPr>
              <a:t>자료: DART 전자공시   ·   학습용 분석이며 투자 권유가 아닙니다.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38251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맑은 고딕"/>
                <a:ea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spc="220">
                <a:solidFill>
                  <a:srgbClr val="F37321"/>
                </a:solidFill>
                <a:latin typeface="맑은 고딕"/>
                <a:ea typeface="맑은 고딕"/>
              </a:rPr>
              <a:t>FINANCIALS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A44"/>
                </a:solidFill>
                <a:latin typeface="맑은 고딕"/>
                <a:ea typeface="맑은 고딕"/>
              </a:rPr>
              <a:t>재무 요약 (최근 3개년)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820095" cy="9525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82268"/>
            <a:ext cx="1005840" cy="304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719072"/>
          <a:ext cx="10820095" cy="2944368"/>
        </p:xfrm>
        <a:graphic>
          <a:graphicData uri="http://schemas.openxmlformats.org/drawingml/2006/table">
            <a:tbl>
              <a:tblPr/>
              <a:tblGrid>
                <a:gridCol w="2164019"/>
                <a:gridCol w="2164019"/>
                <a:gridCol w="2164019"/>
                <a:gridCol w="2164019"/>
                <a:gridCol w="2164019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anchor="ctr" marL="109728" marR="109728" marT="18288" marB="18288">
                    <a:lnB w="19050" cap="flat" cmpd="sng" algn="ctr">
                      <a:solidFill>
                        <a:srgbClr val="1F2A44"/>
                      </a:solidFill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2023</a:t>
                      </a:r>
                    </a:p>
                  </a:txBody>
                  <a:tcPr anchor="ctr" marL="109728" marR="109728" marT="18288" marB="18288">
                    <a:lnB w="19050" cap="flat" cmpd="sng" algn="ctr">
                      <a:solidFill>
                        <a:srgbClr val="1F2A44"/>
                      </a:solidFill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2024</a:t>
                      </a:r>
                    </a:p>
                  </a:txBody>
                  <a:tcPr anchor="ctr" marL="109728" marR="109728" marT="18288" marB="18288">
                    <a:lnB w="19050" cap="flat" cmpd="sng" algn="ctr">
                      <a:solidFill>
                        <a:srgbClr val="1F2A44"/>
                      </a:solidFill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2025</a:t>
                      </a:r>
                    </a:p>
                  </a:txBody>
                  <a:tcPr anchor="ctr" marL="109728" marR="109728" marT="18288" marB="18288">
                    <a:lnB w="19050" cap="flat" cmpd="sng" algn="ctr">
                      <a:solidFill>
                        <a:srgbClr val="1F2A44"/>
                      </a:solidFill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출처</a:t>
                      </a:r>
                    </a:p>
                  </a:txBody>
                  <a:tcPr anchor="ctr" marL="109728" marR="109728" marT="18288" marB="18288">
                    <a:lnB w="19050" cap="flat" cmpd="sng" algn="ctr">
                      <a:solidFill>
                        <a:srgbClr val="1F2A44"/>
                      </a:solidFill>
                    </a:lnB>
                    <a:solidFill>
                      <a:srgbClr val="1F2A4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매출액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258.94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300.87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333.61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DART 사업보고서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영업이익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6.57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32.73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43.60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DART 사업보고서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자산총계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455.91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514.53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566.94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DART 사업보고서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부채총계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92.23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112.34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130.62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DART 사업보고서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자본총계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363.68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402.19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436.32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DART 사업보고서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부채비율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25.4%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27.9%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29.9%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C4048"/>
                          </a:solidFill>
                          <a:latin typeface="맑은 고딕"/>
                          <a:ea typeface="맑은 고딕"/>
                        </a:rPr>
                        <a:t>산출(부채/자본)</a:t>
                      </a:r>
                    </a:p>
                  </a:txBody>
                  <a:tcPr anchor="ctr" marL="109728" marR="109728" marT="18288" marB="18288">
                    <a:lnB w="9525" cap="flat" cmpd="sng" algn="ctr">
                      <a:solidFill>
                        <a:srgbClr val="C9CE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6327648"/>
            <a:ext cx="10820095" cy="6350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8251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8A94A6"/>
                </a:solidFill>
                <a:latin typeface="맑은 고딕"/>
                <a:ea typeface="맑은 고딕"/>
              </a:rPr>
              <a:t>자료: DART 전자공시 (연결 사업보고서)   ·   학습용 분석이며 투자 권유가 아닙니다.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38251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spc="220">
                <a:solidFill>
                  <a:srgbClr val="F37321"/>
                </a:solidFill>
                <a:latin typeface="맑은 고딕"/>
                <a:ea typeface="맑은 고딕"/>
              </a:rPr>
              <a:t>PRICE &amp;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A44"/>
                </a:solidFill>
                <a:latin typeface="맑은 고딕"/>
                <a:ea typeface="맑은 고딕"/>
              </a:rPr>
              <a:t>가격 / 추세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820095" cy="9525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82268"/>
            <a:ext cx="1005840" cy="304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20095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  <a:ea typeface="맑은 고딕"/>
              </a:rPr>
              <a:t>▪  </a:t>
            </a:r>
            <a:r>
              <a:rPr sz="1400" b="0">
                <a:solidFill>
                  <a:srgbClr val="3C4048"/>
                </a:solidFill>
                <a:latin typeface="맑은 고딕"/>
                <a:ea typeface="맑은 고딕"/>
              </a:rPr>
              <a:t>종가 343,000원 (출처: FinanceDataReader, 기준일 2026-06-16)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  <a:ea typeface="맑은 고딕"/>
              </a:rPr>
              <a:t>▪  </a:t>
            </a:r>
            <a:r>
              <a:rPr sz="1400" b="0">
                <a:solidFill>
                  <a:srgbClr val="3C4048"/>
                </a:solidFill>
                <a:latin typeface="맑은 고딕"/>
                <a:ea typeface="맑은 고딕"/>
              </a:rPr>
              <a:t>20일선 312,925원 · 60일선 249,742원 — 종가&gt;20일선&gt;60일선 정배열 (출처: FinanceDataReader, 2026-06-16)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  <a:ea typeface="맑은 고딕"/>
              </a:rPr>
              <a:t>▪  </a:t>
            </a:r>
            <a:r>
              <a:rPr sz="1400" b="0">
                <a:solidFill>
                  <a:srgbClr val="3C4048"/>
                </a:solidFill>
                <a:latin typeface="맑은 고딕"/>
                <a:ea typeface="맑은 고딕"/>
              </a:rPr>
              <a:t>52주 최고 360,500원 / 최저 57,200원 (출처: FinanceDataReader, 최근 1년)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  <a:ea typeface="맑은 고딕"/>
              </a:rPr>
              <a:t>▪  </a:t>
            </a:r>
            <a:r>
              <a:rPr sz="1400" b="0">
                <a:solidFill>
                  <a:srgbClr val="3C4048"/>
                </a:solidFill>
                <a:latin typeface="맑은 고딕"/>
                <a:ea typeface="맑은 고딕"/>
              </a:rPr>
              <a:t>최근 변동률: 1개월 +26.8% · 3개월 +81.8% (출처: FinanceDataReader, 2026-06-16)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  <a:ea typeface="맑은 고딕"/>
              </a:rPr>
              <a:t>▪  </a:t>
            </a:r>
            <a:r>
              <a:rPr sz="1400" b="0">
                <a:solidFill>
                  <a:srgbClr val="3C4048"/>
                </a:solidFill>
                <a:latin typeface="맑은 고딕"/>
                <a:ea typeface="맑은 고딕"/>
              </a:rPr>
              <a:t>코멘트: 단기·중기 이동평균 정배열로 상승 추세이나, 3개월 +81.8%로 단기 급등에 따른 변동성 확대에 유의합니다. (일별·지연 데이터 기준)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820095" cy="6350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8251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8A94A6"/>
                </a:solidFill>
                <a:latin typeface="맑은 고딕"/>
                <a:ea typeface="맑은 고딕"/>
              </a:rPr>
              <a:t>자료: FinanceDataReader (일별·지연 데이터)   ·   학습용 분석이며 투자 권유가 아닙니다.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38251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spc="220">
                <a:solidFill>
                  <a:srgbClr val="F37321"/>
                </a:solidFill>
                <a:latin typeface="맑은 고딕"/>
                <a:ea typeface="맑은 고딕"/>
              </a:rPr>
              <a:t>NEWS &amp; SENTIMENT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A44"/>
                </a:solidFill>
                <a:latin typeface="맑은 고딕"/>
                <a:ea typeface="맑은 고딕"/>
              </a:rPr>
              <a:t>뉴스 · 심리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820095" cy="9525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82268"/>
            <a:ext cx="1005840" cy="304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20095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  <a:ea typeface="맑은 고딕"/>
              </a:rPr>
              <a:t>▪  </a:t>
            </a:r>
            <a:r>
              <a:rPr sz="1400" b="0">
                <a:solidFill>
                  <a:srgbClr val="3C4048"/>
                </a:solidFill>
                <a:latin typeface="맑은 고딕"/>
                <a:ea typeface="맑은 고딕"/>
              </a:rPr>
              <a:t>HBM4 올해 물량 완판, 장기공급계약 추진 중 (출처: 뉴스1, 2026)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  <a:ea typeface="맑은 고딕"/>
              </a:rPr>
              <a:t>▪  </a:t>
            </a:r>
            <a:r>
              <a:rPr sz="1400" b="0">
                <a:solidFill>
                  <a:srgbClr val="3C4048"/>
                </a:solidFill>
                <a:latin typeface="맑은 고딕"/>
                <a:ea typeface="맑은 고딕"/>
              </a:rPr>
              <a:t>AI 메모리 호황으로 2분기 역대급 실적 전망 (출처: 서울경제, 2026)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  <a:ea typeface="맑은 고딕"/>
              </a:rPr>
              <a:t>▪  </a:t>
            </a:r>
            <a:r>
              <a:rPr sz="1400" b="0">
                <a:solidFill>
                  <a:srgbClr val="3C4048"/>
                </a:solidFill>
                <a:latin typeface="맑은 고딕"/>
                <a:ea typeface="맑은 고딕"/>
              </a:rPr>
              <a:t>HBM 매출 전년 대비 3배 이상 성장 전망·공급 타이트 (출처: 대한경제 컨콜, 2026-04-30)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  <a:ea typeface="맑은 고딕"/>
              </a:rPr>
              <a:t>▪  </a:t>
            </a:r>
            <a:r>
              <a:rPr sz="1400" b="0">
                <a:solidFill>
                  <a:srgbClr val="3C4048"/>
                </a:solidFill>
                <a:latin typeface="맑은 고딕"/>
                <a:ea typeface="맑은 고딕"/>
              </a:rPr>
              <a:t>메모리 공급 충족률 역대 최저, 서버 중심 판매 전략 유지 (출처: 디일렉 컨콜 전문, 2026)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  <a:ea typeface="맑은 고딕"/>
              </a:rPr>
              <a:t>▪  </a:t>
            </a:r>
            <a:r>
              <a:rPr sz="1400" b="0">
                <a:solidFill>
                  <a:srgbClr val="3C4048"/>
                </a:solidFill>
                <a:latin typeface="맑은 고딕"/>
                <a:ea typeface="맑은 고딕"/>
              </a:rPr>
              <a:t>시장 심리: 긍정 우세 (HBM 수요·실적 모멘텀 중심)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820095" cy="6350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8251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8A94A6"/>
                </a:solidFill>
                <a:latin typeface="맑은 고딕"/>
                <a:ea typeface="맑은 고딕"/>
              </a:rPr>
              <a:t>자료: 언론 보도 종합   ·   학습용 분석이며 투자 권유가 아닙니다.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38251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spc="220">
                <a:solidFill>
                  <a:srgbClr val="F37321"/>
                </a:solidFill>
                <a:latin typeface="맑은 고딕"/>
                <a:ea typeface="맑은 고딕"/>
              </a:rPr>
              <a:t>KEY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A44"/>
                </a:solidFill>
                <a:latin typeface="맑은 고딕"/>
                <a:ea typeface="맑은 고딕"/>
              </a:rPr>
              <a:t>리스크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820095" cy="9525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82268"/>
            <a:ext cx="1005840" cy="304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820095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  <a:ea typeface="맑은 고딕"/>
              </a:rPr>
              <a:t>▪  </a:t>
            </a:r>
            <a:r>
              <a:rPr sz="1400" b="0">
                <a:solidFill>
                  <a:srgbClr val="3C4048"/>
                </a:solidFill>
                <a:latin typeface="맑은 고딕"/>
                <a:ea typeface="맑은 고딕"/>
              </a:rPr>
              <a:t>메모리 가격 사이클 변동성 — HBM 외 일반 D램(한 자릿수 중반)·낸드 성장 둔화 가능성 (출처: 디일렉 컨콜 전문, 2026)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  <a:ea typeface="맑은 고딕"/>
              </a:rPr>
              <a:t>▪  </a:t>
            </a:r>
            <a:r>
              <a:rPr sz="1400" b="0">
                <a:solidFill>
                  <a:srgbClr val="3C4048"/>
                </a:solidFill>
                <a:latin typeface="맑은 고딕"/>
                <a:ea typeface="맑은 고딕"/>
              </a:rPr>
              <a:t>단기 주가 급등에 따른 밸류에이션 부담 — 최근 3개월 +81.8% (출처: FinanceDataReader, 2026-06-16)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  <a:ea typeface="맑은 고딕"/>
              </a:rPr>
              <a:t>▪  </a:t>
            </a:r>
            <a:r>
              <a:rPr sz="1400" b="0">
                <a:solidFill>
                  <a:srgbClr val="3C4048"/>
                </a:solidFill>
                <a:latin typeface="맑은 고딕"/>
                <a:ea typeface="맑은 고딕"/>
              </a:rPr>
              <a:t>HBM 시장 경쟁 심화 — 경쟁사 공급 확대 시 점유율·가격 압박 가능성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  <a:ea typeface="맑은 고딕"/>
              </a:rPr>
              <a:t>▪  </a:t>
            </a:r>
            <a:r>
              <a:rPr sz="1400" b="0">
                <a:solidFill>
                  <a:srgbClr val="3C4048"/>
                </a:solidFill>
                <a:latin typeface="맑은 고딕"/>
                <a:ea typeface="맑은 고딕"/>
              </a:rPr>
              <a:t>시가총액·거래대금(유동성·규모 지표): 확인 불가 — pykrx KRX 로그인 요구로 미수집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1F2A44"/>
                </a:solidFill>
                <a:latin typeface="맑은 고딕"/>
                <a:ea typeface="맑은 고딕"/>
              </a:rPr>
              <a:t>▪  </a:t>
            </a:r>
            <a:r>
              <a:rPr sz="1400" b="0">
                <a:solidFill>
                  <a:srgbClr val="3C4048"/>
                </a:solidFill>
                <a:latin typeface="맑은 고딕"/>
                <a:ea typeface="맑은 고딕"/>
              </a:rPr>
              <a:t>모니터링 포인트: 분기 실적·HBM 공급계약 진행, 메모리 현물가, 이동평균 추세 이탈 여부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6327648"/>
            <a:ext cx="10820095" cy="6350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638251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8A94A6"/>
                </a:solidFill>
                <a:latin typeface="맑은 고딕"/>
                <a:ea typeface="맑은 고딕"/>
              </a:rPr>
              <a:t>자료: DART · FinanceDataReader · 언론 종합   ·   학습용 분석이며 투자 권유가 아닙니다.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38251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spc="220">
                <a:solidFill>
                  <a:srgbClr val="F37321"/>
                </a:solidFill>
                <a:latin typeface="맑은 고딕"/>
                <a:ea typeface="맑은 고딕"/>
              </a:rP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F2A44"/>
                </a:solidFill>
                <a:latin typeface="맑은 고딕"/>
                <a:ea typeface="맑은 고딕"/>
              </a:rPr>
              <a:t>한 줄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10820095" cy="9525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82268"/>
            <a:ext cx="1005840" cy="3048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44450" cy="502920"/>
          </a:xfrm>
          <a:prstGeom prst="rect">
            <a:avLst/>
          </a:prstGeom>
          <a:solidFill>
            <a:srgbClr val="F3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10591495" cy="442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F37321"/>
                </a:solidFill>
                <a:latin typeface="맑은 고딕"/>
                <a:ea typeface="맑은 고딕"/>
              </a:rPr>
              <a:t>▪  </a:t>
            </a:r>
            <a:r>
              <a:rPr sz="1600" b="1">
                <a:solidFill>
                  <a:srgbClr val="1F2A44"/>
                </a:solidFill>
                <a:latin typeface="맑은 고딕"/>
                <a:ea typeface="맑은 고딕"/>
              </a:rPr>
              <a:t>매출·영업이익이 3년 연속 개선되며 펀더멘털이 견조하고 주가 추세도 정배열입니다. 다만 단기 급등에 따른 변동성과 메모리 사이클 리스크를 함께 점검할 필요가 있습니다. 본 분석은 학습용이며 투자 권유가 아닙니다. 투자 판단은 사람의 몫입니다.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327648"/>
            <a:ext cx="10820095" cy="6350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382512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8A94A6"/>
                </a:solidFill>
                <a:latin typeface="맑은 고딕"/>
                <a:ea typeface="맑은 고딕"/>
              </a:rPr>
              <a:t>자료: 본 리포트 종합   ·   학습용 분석이며 투자 권유가 아닙니다.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8615" y="6382512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8A94A6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